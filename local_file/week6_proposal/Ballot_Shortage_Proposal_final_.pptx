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5" r:id="rId10"/>
    <p:sldId id="270" r:id="rId11"/>
    <p:sldId id="271" r:id="rId12"/>
    <p:sldId id="274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42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1719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proposal begins with a public concern: a ballot shortage is not just an administrative inconvenience. It can delay or limit voter access. The project asks whether ballot-printing assumptions can be evaluated with public election data and Python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the research does not start with a partisan claim. It starts with an administrative and data problem: how many ballots should be printed when actual election-day turnout is uncertain?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ballot printing is a supply decision under uncertainty. This creates a direct opportunity to use data: we can simulate what happens under different printing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news report is important because it gives a clear policy context: efficiency and reduction of unused ballots were considered, but the trade-off is reliability. This proposal evaluates that trade-off quantitatively.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research proposal, not a final causal paper. The purpose is to see whether historical data can support a strong simulation design before deciding whether to expand into causal analysis such as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important modeling choice: total votes are not the right denominator for election-day ballot shortage. Because advance and absentee votes use separate procedures, this preliminary analysis focuses on election-day votes as the demand for polling-place ballots.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central. The project compares counterfactual printing levels. It is a simulation design, not a causal identification strategy. That is why the final discussion asks whether DiD is possible if additional data are obtained.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analysis is feasible for a Python course because it relies on basic data cleaning, grouping, arithmetic transformations, and charts. It is challenging but not too large.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EF4AC-B376-6654-CACE-B85688034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BF76A5-F059-B553-5104-1B3E51291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9F37A3-6177-8A38-D367-6742F99B3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intentionally framed as advisor questions because this is a proposal. The project can become a simulation study or move toward DiD depending on data access and methodological feedback.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FFA27-8E6A-7949-B29D-50FEF88917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4214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contribution carefully. The strength of this proposal is not causal proof. Its strength is a transparent simulation that can motivate a stronger design if more detailed administrative data are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intentionally framed as advisor questions because this is a proposal. The project can become a simulation study or move toward DiD depending on data access and methodological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returning to the democratic meaning of the topic. The proposal uses Python and public data, but the broader issue is whether administrative forecasting protects voter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8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230368"/>
            <a:ext cx="12191695" cy="1627632"/>
          </a:xfrm>
          <a:prstGeom prst="rect">
            <a:avLst/>
          </a:prstGeom>
          <a:solidFill>
            <a:srgbClr val="3A2A1A"/>
          </a:solidFill>
          <a:ln w="12700">
            <a:solidFill>
              <a:srgbClr val="3A2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621792"/>
            <a:ext cx="9875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THE 6.3 LOCAL ELECTION BALLOT SHORTAGE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85800" y="1060704"/>
            <a:ext cx="90525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Day Democracy</a:t>
            </a:r>
            <a:endParaRPr lang="en-US" sz="4300" dirty="0"/>
          </a:p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Briefly Stopped</a:t>
            </a:r>
            <a:endParaRPr lang="en-US" sz="4300" dirty="0"/>
          </a:p>
        </p:txBody>
      </p:sp>
      <p:sp>
        <p:nvSpPr>
          <p:cNvPr id="6" name="Shape 4"/>
          <p:cNvSpPr/>
          <p:nvPr/>
        </p:nvSpPr>
        <p:spPr>
          <a:xfrm>
            <a:off x="704088" y="2770632"/>
            <a:ext cx="4069080" cy="0"/>
          </a:xfrm>
          <a:prstGeom prst="line">
            <a:avLst/>
          </a:prstGeom>
          <a:noFill/>
          <a:ln w="2286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299923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Research Proposal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The Cost of Underestimating Voter Turnout: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A Simulation Study of Ballot Printing Policies in Korean Local Elections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5623560"/>
            <a:ext cx="7406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7E7D2"/>
                </a:solidFill>
              </a:rPr>
              <a:t>Prepared as a Python-based public data analysis proposal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600760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7E7D2"/>
                </a:solidFill>
              </a:rPr>
              <a:t>2010 · 2014 · 2018 · 2022 Local Election Data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4C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PROPOSAL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A2A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3970">
            <a:solidFill>
              <a:srgbClr val="EFE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69164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3A2A1A"/>
                </a:solidFill>
              </a:rPr>
              <a:t>On June 3, 2026, some polling stations reportedly experienced ballot shortages.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22960" y="25146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0DC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2514600"/>
            <a:ext cx="82296" cy="105156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24128" y="267919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2A1A"/>
                </a:solidFill>
              </a:rPr>
              <a:t>Voting delays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4128" y="3081528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</a:rPr>
              <a:t>Operational disruption at polling stations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34840" y="25146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0DC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34840" y="2514600"/>
            <a:ext cx="82296" cy="1051560"/>
          </a:xfrm>
          <a:prstGeom prst="rect">
            <a:avLst/>
          </a:prstGeom>
          <a:solidFill>
            <a:srgbClr val="C94C2D"/>
          </a:solidFill>
          <a:ln w="12700">
            <a:solidFill>
              <a:srgbClr val="C94C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36008" y="267919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2A1A"/>
                </a:solidFill>
              </a:rPr>
              <a:t>Voter access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36008" y="3081528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</a:rPr>
              <a:t>Potential friction in exercising voting rights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46720" y="25146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0DC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046720" y="2514600"/>
            <a:ext cx="82296" cy="1051560"/>
          </a:xfrm>
          <a:prstGeom prst="rect">
            <a:avLst/>
          </a:prstGeom>
          <a:solidFill>
            <a:srgbClr val="3A2A1A"/>
          </a:solidFill>
          <a:ln w="12700">
            <a:solidFill>
              <a:srgbClr val="3A2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47888" y="267919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2A1A"/>
                </a:solidFill>
              </a:rPr>
              <a:t>Public trust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47888" y="3081528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</a:rPr>
              <a:t>Questions about election administration reliability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22960" y="4069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4C2D"/>
                </a:solidFill>
              </a:rPr>
              <a:t>Core question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407408"/>
            <a:ext cx="9052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3A2A1A"/>
                </a:solidFill>
              </a:rPr>
              <a:t>Was this simply a local operational mistake,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3A2A1A"/>
                </a:solidFill>
              </a:rPr>
              <a:t>or a predictable result of turnout-forecasting risk?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94360" y="64739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7A6A"/>
                </a:solidFill>
              </a:rPr>
              <a:t>Sources: NEC election result files (2010–2022); Kukmin Ilbo PDF report (2026).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11292840" y="64282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A7A6A"/>
                </a:solidFill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4C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PROPOSAL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A2A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Democracy runs on data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3970">
            <a:solidFill>
              <a:srgbClr val="EFE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664208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A2A1A"/>
                </a:solidFill>
              </a:rPr>
              <a:t>Election administration is a forecasting chain.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33172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9D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2A1A"/>
                </a:solidFill>
              </a:rPr>
              <a:t>Eligible voters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80720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</a:rPr>
              <a:t>Base population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90672" y="2834640"/>
            <a:ext cx="411480" cy="0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66160" y="233172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F7E7D2"/>
          </a:solidFill>
          <a:ln w="12700">
            <a:solidFill>
              <a:srgbClr val="E9D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03320" y="25146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2A1A"/>
                </a:solidFill>
              </a:rPr>
              <a:t>Turnout forecast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03320" y="280720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</a:rPr>
              <a:t>Expected demand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79592" y="2834640"/>
            <a:ext cx="411480" cy="0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55080" y="233172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9D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92240" y="25146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2A1A"/>
                </a:solidFill>
              </a:rPr>
              <a:t>Ballot printing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280720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</a:rPr>
              <a:t>Supply decision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668512" y="2834640"/>
            <a:ext cx="411480" cy="0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44000" y="233172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9D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81160" y="25146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2A1A"/>
                </a:solidFill>
              </a:rPr>
              <a:t>Election operations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281160" y="280720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</a:rPr>
              <a:t>Voter access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51560" y="4069080"/>
            <a:ext cx="10012680" cy="960120"/>
          </a:xfrm>
          <a:prstGeom prst="roundRect">
            <a:avLst>
              <a:gd name="adj" fmla="val 6667"/>
            </a:avLst>
          </a:prstGeom>
          <a:solidFill>
            <a:srgbClr val="FFF1E0"/>
          </a:solidFill>
          <a:ln w="12700">
            <a:solidFill>
              <a:srgbClr val="F0DC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25880" y="437083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A2A1A"/>
                </a:solidFill>
              </a:rPr>
              <a:t>If turnout is underestimated, the supply decision may become too low — creating ballot shortage risk.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594360" y="64739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7A6A"/>
                </a:solidFill>
              </a:rPr>
              <a:t>Sources: NEC election result files (2010–2022); Kukmin Ilbo PDF report (2026).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11292840" y="64282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A7A6A"/>
                </a:solidFill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4C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PROPOSAL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A2A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Policy context behind the proposal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3970">
            <a:solidFill>
              <a:srgbClr val="EFE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627632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A1A"/>
                </a:solidFill>
              </a:rPr>
              <a:t>The uploaded news report provides the policy motivation for the simulation.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102412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</a:rPr>
              <a:t>A 2022 NEC-commissioned research report discussed reducing ballot printing volume because many ballots were discarded even around the traditional 60% level.</a:t>
            </a:r>
            <a:endParaRPr lang="en-US" sz="1600" dirty="0"/>
          </a:p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</a:rPr>
              <a:t>For the 2026 local election, local election offices were reportedly instructed to print at least 50% of eligible voters.</a:t>
            </a:r>
            <a:endParaRPr lang="en-US" sz="1600" dirty="0"/>
          </a:p>
          <a:p>
            <a:pPr marL="165100" indent="-165100">
              <a:buSzPct val="100000"/>
              <a:buChar char="•"/>
            </a:pPr>
            <a:r>
              <a:rPr lang="en-US" sz="1600" dirty="0">
                <a:solidFill>
                  <a:srgbClr val="1F1F1F"/>
                </a:solidFill>
              </a:rPr>
              <a:t>Some jurisdictions reportedly prepared only the minimum 50% level, which became central to the ballot shortage controversy.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4160520"/>
            <a:ext cx="9966960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E9D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0" y="4270248"/>
            <a:ext cx="18288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4C2D"/>
                </a:solidFill>
              </a:rPr>
              <a:t>Proposal focus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4553712"/>
            <a:ext cx="9281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3A2A1A"/>
                </a:solidFill>
              </a:rPr>
              <a:t>Not “who is responsible?” but “how much risk changes under 50% vs. 60% printing assumptions.”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94360" y="64739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7A6A"/>
                </a:solidFill>
              </a:rPr>
              <a:t>Source: Kukmin Ilbo PDF report uploaded by user; NEC election result files.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11292840" y="64282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A7A6A"/>
                </a:solidFill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4C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PROPOSAL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A2A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purpose and questions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3970">
            <a:solidFill>
              <a:srgbClr val="EFE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6276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4C2D"/>
                </a:solidFill>
              </a:rPr>
              <a:t>Purpose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938528"/>
            <a:ext cx="96012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3A2A1A"/>
                </a:solidFill>
              </a:rPr>
              <a:t>To simulate how ballot shortage risk changes when ballot-printing thresholds are set at 50% versus 60% of eligible voters.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3063240"/>
            <a:ext cx="822960" cy="256032"/>
          </a:xfrm>
          <a:prstGeom prst="rect">
            <a:avLst/>
          </a:prstGeom>
          <a:solidFill>
            <a:srgbClr val="C94C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RQ1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01952" y="30449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</a:rPr>
              <a:t>Is a 50% ballot-printing threshold sufficient?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60120" y="3886200"/>
            <a:ext cx="822960" cy="256032"/>
          </a:xfrm>
          <a:prstGeom prst="rect">
            <a:avLst/>
          </a:prstGeom>
          <a:solidFill>
            <a:srgbClr val="C94C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RQ2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01952" y="386791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</a:rPr>
              <a:t>How much would a 60% threshold reduce shortage risk?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60120" y="4709160"/>
            <a:ext cx="822960" cy="256032"/>
          </a:xfrm>
          <a:prstGeom prst="rect">
            <a:avLst/>
          </a:prstGeom>
          <a:solidFill>
            <a:srgbClr val="C94C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RQ3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01952" y="4690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F1F1F"/>
                </a:solidFill>
              </a:rPr>
              <a:t>Which regions appear most vulnerable to shortages?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94360" y="64739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7A6A"/>
                </a:solidFill>
              </a:rPr>
              <a:t>Sources: NEC election result files (2010–2022); Kukmin Ilbo PDF report (2026).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11292840" y="64282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A7A6A"/>
                </a:solidFill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4C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PROPOSAL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A2A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used for preliminary analysis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3970">
            <a:solidFill>
              <a:srgbClr val="EFE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A1A"/>
                </a:solidFill>
              </a:rPr>
              <a:t>Uploaded NEC local election result files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68680" y="214884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9D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2331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4C2D"/>
                </a:solidFill>
              </a:rPr>
              <a:t>2010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005840" y="276148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</a:rPr>
              <a:t>5th Local Election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0" y="214884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9D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94760" y="2331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4C2D"/>
                </a:solidFill>
              </a:rPr>
              <a:t>2014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794760" y="276148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</a:rPr>
              <a:t>6th Local Election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46520" y="214884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9D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2331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4C2D"/>
                </a:solidFill>
              </a:rPr>
              <a:t>2018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583680" y="276148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</a:rPr>
              <a:t>7th Local Election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235440" y="2148840"/>
            <a:ext cx="22402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9D6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72600" y="2331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94C2D"/>
                </a:solidFill>
              </a:rPr>
              <a:t>2022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372600" y="276148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6B6B"/>
                </a:solidFill>
              </a:rPr>
              <a:t>8th Local Election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60120" y="3794760"/>
            <a:ext cx="996696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1F1F"/>
                </a:solidFill>
              </a:rPr>
              <a:t>Analysis unit: municipal-level regions (si/gun/gu). Shortage risk is computed using election-day votes, because the controversy concerns ballots needed at polling stations on Election Day.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173100" y="4857517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C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173100" y="4864608"/>
            <a:ext cx="82296" cy="914400"/>
          </a:xfrm>
          <a:prstGeom prst="rect">
            <a:avLst/>
          </a:prstGeom>
          <a:solidFill>
            <a:srgbClr val="C94C2D"/>
          </a:solidFill>
          <a:ln w="12700">
            <a:solidFill>
              <a:srgbClr val="C94C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346836" y="5010912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2A1A"/>
                </a:solidFill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2346836" y="5467925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</a:rPr>
              <a:t>local election cycles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73137" y="4857517"/>
            <a:ext cx="2926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0DC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563806" y="4882709"/>
            <a:ext cx="82296" cy="914400"/>
          </a:xfrm>
          <a:prstGeom prst="rect">
            <a:avLst/>
          </a:prstGeom>
          <a:solidFill>
            <a:srgbClr val="3A2A1A"/>
          </a:solidFill>
          <a:ln w="12700">
            <a:solidFill>
              <a:srgbClr val="3A2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37542" y="5010911"/>
            <a:ext cx="2578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2A1A"/>
                </a:solidFill>
              </a:rPr>
              <a:t>3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746873" y="5409702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</a:rPr>
              <a:t>core variables: eligible voters, total votes cast, election-day votes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94360" y="64739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7A6A"/>
                </a:solidFill>
              </a:rPr>
              <a:t>Source: Uploaded NEC election result spreadsheets for 2010, 2014, 2018, and 2022.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11292840" y="64282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A7A6A"/>
                </a:solidFill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4C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PROPOSAL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A2A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Simulation design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3970">
            <a:solidFill>
              <a:srgbClr val="EFE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6276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A1A"/>
                </a:solidFill>
              </a:rPr>
              <a:t>Two printing scenarios are applied to each region-year observation.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914400" y="2240280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0DC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2240280"/>
            <a:ext cx="82296" cy="1143000"/>
          </a:xfrm>
          <a:prstGeom prst="rect">
            <a:avLst/>
          </a:prstGeom>
          <a:solidFill>
            <a:srgbClr val="C94C2D"/>
          </a:solidFill>
          <a:ln w="12700">
            <a:solidFill>
              <a:srgbClr val="C94C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15568" y="2404872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2A1A"/>
                </a:solidFill>
              </a:rPr>
              <a:t>Scenario 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15568" y="2807208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</a:rPr>
              <a:t>Prepared ballots = eligible voters × 50%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92240" y="2240280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0DC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492240" y="2240280"/>
            <a:ext cx="82296" cy="1143000"/>
          </a:xfrm>
          <a:prstGeom prst="rect">
            <a:avLst/>
          </a:prstGeom>
          <a:solidFill>
            <a:srgbClr val="3A2A1A"/>
          </a:solidFill>
          <a:ln w="12700">
            <a:solidFill>
              <a:srgbClr val="3A2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93408" y="2404872"/>
            <a:ext cx="4407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2A1A"/>
                </a:solidFill>
              </a:rPr>
              <a:t>Scenario B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93408" y="2807208"/>
            <a:ext cx="4407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</a:rPr>
              <a:t>Prepared ballots = eligible voters × 60%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51560" y="3977640"/>
            <a:ext cx="10058400" cy="960120"/>
          </a:xfrm>
          <a:prstGeom prst="roundRect">
            <a:avLst>
              <a:gd name="adj" fmla="val 6667"/>
            </a:avLst>
          </a:prstGeom>
          <a:solidFill>
            <a:srgbClr val="FFF1E0"/>
          </a:solidFill>
          <a:ln w="12700">
            <a:solidFill>
              <a:srgbClr val="F0DC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234440" y="427939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A2A1A"/>
                </a:solidFill>
              </a:rPr>
              <a:t>Ballot shortage = max(Election-day votes − Prepared ballots, 0)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34440" y="5138928"/>
            <a:ext cx="9692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20" dirty="0">
                <a:solidFill>
                  <a:srgbClr val="6B6B6B"/>
                </a:solidFill>
              </a:rPr>
              <a:t>Interpretation: the simulation estimates risk under alternative printing thresholds, not the causal effect of the 2026 policy.</a:t>
            </a:r>
            <a:endParaRPr lang="en-US" sz="1420" dirty="0"/>
          </a:p>
        </p:txBody>
      </p:sp>
      <p:sp>
        <p:nvSpPr>
          <p:cNvPr id="19" name="Text 17"/>
          <p:cNvSpPr/>
          <p:nvPr/>
        </p:nvSpPr>
        <p:spPr>
          <a:xfrm>
            <a:off x="594360" y="64739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7A6A"/>
                </a:solidFill>
              </a:rPr>
              <a:t>Sources: NEC election result files (2010–2022); Kukmin Ilbo PDF report (2026).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1292840" y="64282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A7A6A"/>
                </a:solidFill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4C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PROPOSAL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A2A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 workflow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3970">
            <a:solidFill>
              <a:srgbClr val="EFE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61848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A2A1A"/>
                </a:solidFill>
              </a:rPr>
              <a:t>Reproducible analysis pipeline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057400"/>
            <a:ext cx="292608" cy="237744"/>
          </a:xfrm>
          <a:prstGeom prst="rect">
            <a:avLst/>
          </a:prstGeom>
          <a:solidFill>
            <a:srgbClr val="C94C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98448" y="2029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1F1F"/>
                </a:solidFill>
              </a:rPr>
              <a:t>Import Excel files(Election data)</a:t>
            </a:r>
            <a:endParaRPr lang="en-US" sz="1420" dirty="0"/>
          </a:p>
        </p:txBody>
      </p:sp>
      <p:sp>
        <p:nvSpPr>
          <p:cNvPr id="10" name="Text 8"/>
          <p:cNvSpPr/>
          <p:nvPr/>
        </p:nvSpPr>
        <p:spPr>
          <a:xfrm>
            <a:off x="868680" y="2532888"/>
            <a:ext cx="292608" cy="237744"/>
          </a:xfrm>
          <a:prstGeom prst="rect">
            <a:avLst/>
          </a:prstGeom>
          <a:solidFill>
            <a:srgbClr val="C94C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98448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1F1F"/>
                </a:solidFill>
              </a:rPr>
              <a:t>Clean headers and numeric fields</a:t>
            </a:r>
            <a:endParaRPr lang="en-US" sz="1420" dirty="0"/>
          </a:p>
        </p:txBody>
      </p:sp>
      <p:sp>
        <p:nvSpPr>
          <p:cNvPr id="12" name="Text 10"/>
          <p:cNvSpPr/>
          <p:nvPr/>
        </p:nvSpPr>
        <p:spPr>
          <a:xfrm>
            <a:off x="868680" y="3008376"/>
            <a:ext cx="292608" cy="237744"/>
          </a:xfrm>
          <a:prstGeom prst="rect">
            <a:avLst/>
          </a:prstGeom>
          <a:solidFill>
            <a:srgbClr val="C94C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98448" y="29809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1F1F"/>
                </a:solidFill>
              </a:rPr>
              <a:t>Extract election-day votes</a:t>
            </a:r>
            <a:endParaRPr lang="en-US" sz="1420" dirty="0"/>
          </a:p>
        </p:txBody>
      </p:sp>
      <p:sp>
        <p:nvSpPr>
          <p:cNvPr id="14" name="Text 12"/>
          <p:cNvSpPr/>
          <p:nvPr/>
        </p:nvSpPr>
        <p:spPr>
          <a:xfrm>
            <a:off x="868680" y="3483864"/>
            <a:ext cx="292608" cy="237744"/>
          </a:xfrm>
          <a:prstGeom prst="rect">
            <a:avLst/>
          </a:prstGeom>
          <a:solidFill>
            <a:srgbClr val="C94C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298448" y="3456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1F1F"/>
                </a:solidFill>
              </a:rPr>
              <a:t>Simulate 50% and 60% printing</a:t>
            </a:r>
            <a:endParaRPr lang="en-US" sz="1420" dirty="0"/>
          </a:p>
        </p:txBody>
      </p:sp>
      <p:sp>
        <p:nvSpPr>
          <p:cNvPr id="16" name="Text 14"/>
          <p:cNvSpPr/>
          <p:nvPr/>
        </p:nvSpPr>
        <p:spPr>
          <a:xfrm>
            <a:off x="868680" y="3959352"/>
            <a:ext cx="292608" cy="237744"/>
          </a:xfrm>
          <a:prstGeom prst="rect">
            <a:avLst/>
          </a:prstGeom>
          <a:solidFill>
            <a:srgbClr val="C94C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98448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1F1F1F"/>
                </a:solidFill>
              </a:rPr>
              <a:t>Generate charts and tables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5486400" y="2057400"/>
            <a:ext cx="5943600" cy="2514600"/>
          </a:xfrm>
          <a:prstGeom prst="roundRect">
            <a:avLst>
              <a:gd name="adj" fmla="val 1818"/>
            </a:avLst>
          </a:prstGeom>
          <a:solidFill>
            <a:srgbClr val="2E241B"/>
          </a:solidFill>
          <a:ln w="12700">
            <a:solidFill>
              <a:srgbClr val="2E241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15000" y="2267712"/>
            <a:ext cx="5532120" cy="2011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FF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df["prepared_50"] = df["eligible"] * 0.50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FF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df["shortage_50"] = (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FF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df["election_day_votes"] - df["prepared_50"]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FF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).clip(lower=0)</a:t>
            </a:r>
            <a:endParaRPr lang="en-US" sz="1320" dirty="0"/>
          </a:p>
          <a:p>
            <a:pPr marL="0" indent="0">
              <a:buNone/>
            </a:pP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FF4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df["prepared_60"] = df["eligible"] * 0.60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868680" y="4983480"/>
            <a:ext cx="8686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6B6B6B"/>
                </a:solidFill>
              </a:rPr>
              <a:t>Tools: Python · pandas · NumPy · matplotlib · PowerPoint generation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94360" y="64739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7A6A"/>
                </a:solidFill>
              </a:rPr>
              <a:t>Sources: NEC election result files (2010–2022); Kukmin Ilbo PDF report (2026).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11292840" y="64282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A7A6A"/>
                </a:solidFill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40DC2-4BFB-A05C-F35F-90643D759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086B82-CB33-262B-7DA5-393DD1DE5858}"/>
              </a:ext>
            </a:extLst>
          </p:cNvPr>
          <p:cNvSpPr/>
          <p:nvPr/>
        </p:nvSpPr>
        <p:spPr>
          <a:xfrm>
            <a:off x="74950" y="-713232"/>
            <a:ext cx="12191695" cy="6858000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9FB8126-D606-6E11-0862-E8329C4515CB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6AF5592-F0C2-C04B-CDE8-58BD19BD64C1}"/>
              </a:ext>
            </a:extLst>
          </p:cNvPr>
          <p:cNvSpPr/>
          <p:nvPr/>
        </p:nvSpPr>
        <p:spPr>
          <a:xfrm>
            <a:off x="594360" y="4114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4C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PROPOSAL</a:t>
            </a:r>
            <a:endParaRPr lang="en-US" sz="8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49B76B9-36D8-9EEB-34AC-C50F57BE0017}"/>
              </a:ext>
            </a:extLst>
          </p:cNvPr>
          <p:cNvSpPr/>
          <p:nvPr/>
        </p:nvSpPr>
        <p:spPr>
          <a:xfrm>
            <a:off x="594360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/>
              <a:t>Expected Outputs</a:t>
            </a:r>
            <a:endParaRPr lang="en-US" sz="2700" b="1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BA5D4EF-C770-0EBF-B5D2-43847719BB13}"/>
              </a:ext>
            </a:extLst>
          </p:cNvPr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3970">
            <a:solidFill>
              <a:srgbClr val="EFE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5811AD8-AA67-F8B8-4B70-8AC4C9750388}"/>
              </a:ext>
            </a:extLst>
          </p:cNvPr>
          <p:cNvSpPr/>
          <p:nvPr/>
        </p:nvSpPr>
        <p:spPr>
          <a:xfrm>
            <a:off x="594360" y="1554481"/>
            <a:ext cx="10698480" cy="4590287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r>
              <a:rPr lang="en-US" sz="1600" dirty="0"/>
              <a:t>Historical Election-Day Turnout Trends</a:t>
            </a:r>
          </a:p>
          <a:p>
            <a:r>
              <a:rPr lang="en-US" sz="1600" dirty="0"/>
              <a:t>• Understand long-term demand patterns</a:t>
            </a:r>
          </a:p>
          <a:p>
            <a:endParaRPr lang="en-US" sz="1600" dirty="0"/>
          </a:p>
          <a:p>
            <a:r>
              <a:rPr lang="en-US" sz="1600" dirty="0"/>
              <a:t>Shortage-Risk Regions</a:t>
            </a:r>
          </a:p>
          <a:p>
            <a:r>
              <a:rPr lang="en-US" sz="1600" dirty="0"/>
              <a:t>• Compare 50% vs 60% printing scenarios</a:t>
            </a:r>
          </a:p>
          <a:p>
            <a:endParaRPr lang="en-US" sz="1600" dirty="0"/>
          </a:p>
          <a:p>
            <a:r>
              <a:rPr lang="en-US" sz="1600" dirty="0"/>
              <a:t>Simulated Shortage Volume</a:t>
            </a:r>
          </a:p>
          <a:p>
            <a:r>
              <a:rPr lang="en-US" sz="1600" dirty="0"/>
              <a:t>• Estimate shortage magnitude</a:t>
            </a:r>
          </a:p>
          <a:p>
            <a:endParaRPr lang="en-US" sz="1600" dirty="0"/>
          </a:p>
          <a:p>
            <a:r>
              <a:rPr lang="en-US" sz="1600" dirty="0"/>
              <a:t>Top 10 High-Risk Regions</a:t>
            </a:r>
          </a:p>
          <a:p>
            <a:r>
              <a:rPr lang="en-US" sz="1600" dirty="0"/>
              <a:t>• Identify vulnerable municipalities</a:t>
            </a:r>
          </a:p>
          <a:p>
            <a:endParaRPr lang="en-US" sz="1600" dirty="0"/>
          </a:p>
          <a:p>
            <a:r>
              <a:rPr lang="en-US" sz="1600" dirty="0"/>
              <a:t>Regional Demand Distribution</a:t>
            </a:r>
          </a:p>
          <a:p>
            <a:r>
              <a:rPr lang="en-US" sz="1600" dirty="0"/>
              <a:t>• Examine geographic variation in risk</a:t>
            </a:r>
          </a:p>
          <a:p>
            <a:endParaRPr lang="en-US" sz="1600" dirty="0"/>
          </a:p>
          <a:p>
            <a:r>
              <a:rPr lang="en-US" sz="1600" dirty="0"/>
              <a:t>Expected Deliverables:</a:t>
            </a:r>
          </a:p>
          <a:p>
            <a:r>
              <a:rPr lang="en-US" sz="1600" dirty="0"/>
              <a:t>✓ Risk Comparison</a:t>
            </a:r>
          </a:p>
          <a:p>
            <a:r>
              <a:rPr lang="en-US" sz="1600" dirty="0"/>
              <a:t>✓ Regional Ranking</a:t>
            </a:r>
          </a:p>
          <a:p>
            <a:r>
              <a:rPr lang="en-US" sz="1600" dirty="0"/>
              <a:t>✓ Demand Analysis</a:t>
            </a:r>
          </a:p>
          <a:p>
            <a:r>
              <a:rPr lang="en-US" sz="1600" dirty="0"/>
              <a:t>✓ Policy Implications</a:t>
            </a:r>
          </a:p>
          <a:p>
            <a:pPr marL="0" indent="0">
              <a:buNone/>
            </a:pPr>
            <a:endParaRPr lang="en-US" sz="148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35528B1-723F-E846-B9FB-428E990A4504}"/>
              </a:ext>
            </a:extLst>
          </p:cNvPr>
          <p:cNvSpPr/>
          <p:nvPr/>
        </p:nvSpPr>
        <p:spPr>
          <a:xfrm>
            <a:off x="1353312" y="3078357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148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22E9C393-528F-EF37-A957-8E4FDAD1EB4E}"/>
              </a:ext>
            </a:extLst>
          </p:cNvPr>
          <p:cNvSpPr/>
          <p:nvPr/>
        </p:nvSpPr>
        <p:spPr>
          <a:xfrm>
            <a:off x="594360" y="64739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7A6A"/>
                </a:solidFill>
              </a:rPr>
              <a:t>Sources: NEC election result files (2010–2022); Kukmin Ilbo PDF report (2026).</a:t>
            </a:r>
            <a:endParaRPr lang="en-US" sz="680" dirty="0"/>
          </a:p>
        </p:txBody>
      </p:sp>
    </p:spTree>
    <p:extLst>
      <p:ext uri="{BB962C8B-B14F-4D97-AF65-F5344CB8AC3E}">
        <p14:creationId xmlns:p14="http://schemas.microsoft.com/office/powerpoint/2010/main" val="2263057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4C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PROPOSAL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A2A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Interpretation and expected contribution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3970">
            <a:solidFill>
              <a:srgbClr val="EFE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1627632"/>
            <a:ext cx="99669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3A2A1A"/>
                </a:solidFill>
              </a:rPr>
              <a:t>The proposal does not claim that a 50% guideline directly caused the 2026 shortage.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157984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1F1F"/>
                </a:solidFill>
              </a:rPr>
              <a:t>Instead, it provides a preliminary, data-driven way to evaluate whether a lower printing threshold increases operational risk under historical turnout conditions.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68680" y="333756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0DC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68680" y="3337560"/>
            <a:ext cx="82296" cy="1143000"/>
          </a:xfrm>
          <a:prstGeom prst="rect">
            <a:avLst/>
          </a:prstGeom>
          <a:solidFill>
            <a:srgbClr val="C94C2D"/>
          </a:solidFill>
          <a:ln w="12700">
            <a:solidFill>
              <a:srgbClr val="C94C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69848" y="350215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2A1A"/>
                </a:solidFill>
              </a:rPr>
              <a:t>Academic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69848" y="3904488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</a:rPr>
              <a:t>Election administration risk and forecasting under uncertainty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34840" y="333756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0DC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434840" y="3337560"/>
            <a:ext cx="82296" cy="1143000"/>
          </a:xfrm>
          <a:prstGeom prst="rect">
            <a:avLst/>
          </a:prstGeom>
          <a:solidFill>
            <a:srgbClr val="3A2A1A"/>
          </a:solidFill>
          <a:ln w="12700">
            <a:solidFill>
              <a:srgbClr val="3A2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36008" y="350215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2A1A"/>
                </a:solidFill>
              </a:rPr>
              <a:t>Policy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636008" y="3904488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</a:rPr>
              <a:t>Evidence for balancing cost reduction and election reliability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001000" y="333756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0DC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001000" y="3337560"/>
            <a:ext cx="82296" cy="11430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02168" y="3502152"/>
            <a:ext cx="2944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A2A1A"/>
                </a:solidFill>
              </a:rPr>
              <a:t>Technical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202168" y="3904488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B6B6B"/>
                </a:solidFill>
              </a:rPr>
              <a:t>Python-based simulation using public administrative data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94360" y="64739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7A6A"/>
                </a:solidFill>
              </a:rPr>
              <a:t>Sources: NEC election result files (2010–2022); Kukmin Ilbo PDF report (2026).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11292840" y="64282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A7A6A"/>
                </a:solidFill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-713232"/>
            <a:ext cx="12191695" cy="6858000"/>
          </a:xfrm>
          <a:prstGeom prst="rect">
            <a:avLst/>
          </a:prstGeom>
          <a:solidFill>
            <a:srgbClr val="FFF8F0"/>
          </a:solidFill>
          <a:ln w="12700">
            <a:solidFill>
              <a:srgbClr val="FFF8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4114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C94C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PROPOSAL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94360" y="7132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A2A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Proposal discussion: questions for advisor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10972800" cy="0"/>
          </a:xfrm>
          <a:prstGeom prst="line">
            <a:avLst/>
          </a:prstGeom>
          <a:noFill/>
          <a:ln w="13970">
            <a:solidFill>
              <a:srgbClr val="EFE7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347472" cy="256032"/>
          </a:xfrm>
          <a:prstGeom prst="rect">
            <a:avLst/>
          </a:prstGeom>
          <a:solidFill>
            <a:srgbClr val="C94C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081528"/>
            <a:ext cx="347472" cy="256032"/>
          </a:xfrm>
          <a:prstGeom prst="rect">
            <a:avLst/>
          </a:prstGeom>
          <a:solidFill>
            <a:srgbClr val="C94C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17320" y="2307460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1F1F1F"/>
                </a:solidFill>
              </a:rPr>
              <a:t>Could Difference-in-Differences be used if actual printing policy changes, region-level printing volume, and shortage records become available?</a:t>
            </a:r>
            <a:endParaRPr lang="en-US" sz="1480" dirty="0"/>
          </a:p>
        </p:txBody>
      </p:sp>
      <p:sp>
        <p:nvSpPr>
          <p:cNvPr id="12" name="Text 10"/>
          <p:cNvSpPr/>
          <p:nvPr/>
        </p:nvSpPr>
        <p:spPr>
          <a:xfrm>
            <a:off x="868680" y="3831336"/>
            <a:ext cx="347472" cy="256032"/>
          </a:xfrm>
          <a:prstGeom prst="rect">
            <a:avLst/>
          </a:prstGeom>
          <a:solidFill>
            <a:srgbClr val="C94C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353312" y="3078357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1F1F1F"/>
                </a:solidFill>
              </a:rPr>
              <a:t>What additional data would strengthen the design — polling station counts, early voting rates, demographics, actual printed ballots, or official shortage records?</a:t>
            </a:r>
            <a:endParaRPr lang="en-US" sz="1480" dirty="0"/>
          </a:p>
        </p:txBody>
      </p:sp>
      <p:sp>
        <p:nvSpPr>
          <p:cNvPr id="15" name="Text 13"/>
          <p:cNvSpPr/>
          <p:nvPr/>
        </p:nvSpPr>
        <p:spPr>
          <a:xfrm>
            <a:off x="1353312" y="3791589"/>
            <a:ext cx="98755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80" dirty="0">
                <a:solidFill>
                  <a:srgbClr val="1F1F1F"/>
                </a:solidFill>
              </a:rPr>
              <a:t>Should the study remain nationwide, or focus on a specific high-risk case such as Seoul/Songpa or other metropolitan regions?</a:t>
            </a:r>
            <a:endParaRPr lang="en-US" sz="1480" dirty="0"/>
          </a:p>
        </p:txBody>
      </p:sp>
      <p:sp>
        <p:nvSpPr>
          <p:cNvPr id="16" name="Text 14"/>
          <p:cNvSpPr/>
          <p:nvPr/>
        </p:nvSpPr>
        <p:spPr>
          <a:xfrm>
            <a:off x="594360" y="6473952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8A7A6A"/>
                </a:solidFill>
              </a:rPr>
              <a:t>Sources: NEC election result files (2010–2022); Kukmin Ilbo PDF report (2026).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11292840" y="64282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8A7A6A"/>
                </a:solidFill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A2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A2A1A"/>
          </a:solidFill>
          <a:ln w="12700">
            <a:solidFill>
              <a:srgbClr val="3A2A1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109728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Democracy depends on preparation.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7E7D2"/>
                </a:solidFill>
              </a:rPr>
              <a:t>A ballot shortage is not merely a paper shortage.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F7E7D2"/>
                </a:solidFill>
              </a:rPr>
              <a:t>It is connected to voting rights and public trust.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3657600"/>
            <a:ext cx="4663440" cy="0"/>
          </a:xfrm>
          <a:prstGeom prst="line">
            <a:avLst/>
          </a:prstGeom>
          <a:noFill/>
          <a:ln w="2794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896112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600" b="1" i="1" dirty="0">
                <a:solidFill>
                  <a:srgbClr val="FFFFFF"/>
                </a:solidFill>
              </a:rPr>
              <a:t>“Democracy begins not at the ballot box,</a:t>
            </a:r>
            <a:endParaRPr lang="en-US" sz="2600" dirty="0"/>
          </a:p>
          <a:p>
            <a:pPr marL="0" indent="0">
              <a:buNone/>
            </a:pPr>
            <a:r>
              <a:rPr lang="en-US" sz="2600" b="1" i="1" dirty="0">
                <a:solidFill>
                  <a:srgbClr val="FFFFFF"/>
                </a:solidFill>
              </a:rPr>
              <a:t>but with the ability to vote.”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58338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8C28"/>
                </a:solidFill>
              </a:rPr>
              <a:t>Thank you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1442</Words>
  <Application>Microsoft Office PowerPoint</Application>
  <PresentationFormat>Widescreen</PresentationFormat>
  <Paragraphs>184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Research Proposal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Cost of Underestimating Voter Turnout</dc:title>
  <dc:subject>Ballot shortage risk simulation research proposal</dc:subject>
  <dc:creator>OpenAI</dc:creator>
  <cp:lastModifiedBy>서라운 대리</cp:lastModifiedBy>
  <cp:revision>4</cp:revision>
  <dcterms:created xsi:type="dcterms:W3CDTF">2026-06-23T09:43:09Z</dcterms:created>
  <dcterms:modified xsi:type="dcterms:W3CDTF">2026-06-23T17:08:01Z</dcterms:modified>
</cp:coreProperties>
</file>