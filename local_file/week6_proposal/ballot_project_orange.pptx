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143500" cx="9144000"/>
  <p:notesSz cx="5143500" cy="9144000"/>
  <p:embeddedFontLst>
    <p:embeddedFont>
      <p:font typeface="Montserrat"/>
      <p:bold r:id="rId12"/>
      <p:boldItalic r:id="rId13"/>
    </p:embeddedFont>
    <p:embeddedFont>
      <p:font typeface="Lato"/>
      <p:regular r:id="rId14"/>
      <p:bold r:id="rId15"/>
      <p:italic r:id="rId16"/>
      <p:boldItalic r:id="rId17"/>
    </p:embeddedFont>
    <p:embeddedFont>
      <p:font typeface="Montserrat Light"/>
      <p:regular r:id="rId18"/>
      <p:bold r:id="rId19"/>
      <p:italic r:id="rId20"/>
      <p:boldItalic r:id="rId21"/>
    </p:embeddedFont>
    <p:embeddedFont>
      <p:font typeface="Helvetica Neue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gN3lEcm1Fr/BttTOHsmHlFpB6i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Light-italic.fntdata"/><Relationship Id="rId22" Type="http://schemas.openxmlformats.org/officeDocument/2006/relationships/font" Target="fonts/HelveticaNeue-regular.fntdata"/><Relationship Id="rId21" Type="http://schemas.openxmlformats.org/officeDocument/2006/relationships/font" Target="fonts/MontserratLight-boldItalic.fntdata"/><Relationship Id="rId24" Type="http://schemas.openxmlformats.org/officeDocument/2006/relationships/font" Target="fonts/HelveticaNeue-italic.fntdata"/><Relationship Id="rId23" Type="http://schemas.openxmlformats.org/officeDocument/2006/relationships/font" Target="fonts/HelveticaNeue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customschemas.google.com/relationships/presentationmetadata" Target="metadata"/><Relationship Id="rId25" Type="http://schemas.openxmlformats.org/officeDocument/2006/relationships/font" Target="fonts/HelveticaNeue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Montserrat-boldItalic.fntdata"/><Relationship Id="rId12" Type="http://schemas.openxmlformats.org/officeDocument/2006/relationships/font" Target="fonts/Montserrat-bold.fntdata"/><Relationship Id="rId15" Type="http://schemas.openxmlformats.org/officeDocument/2006/relationships/font" Target="fonts/Lato-bold.fntdata"/><Relationship Id="rId14" Type="http://schemas.openxmlformats.org/officeDocument/2006/relationships/font" Target="fonts/Lato-regular.fntdata"/><Relationship Id="rId17" Type="http://schemas.openxmlformats.org/officeDocument/2006/relationships/font" Target="fonts/Lato-boldItalic.fntdata"/><Relationship Id="rId16" Type="http://schemas.openxmlformats.org/officeDocument/2006/relationships/font" Target="fonts/Lato-italic.fntdata"/><Relationship Id="rId19" Type="http://schemas.openxmlformats.org/officeDocument/2006/relationships/font" Target="fonts/MontserratLight-bold.fntdata"/><Relationship Id="rId18" Type="http://schemas.openxmlformats.org/officeDocument/2006/relationships/font" Target="fonts/MontserratLigh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" name="Google Shape;18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" name="Google Shape;19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" name="Google Shape;33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" name="Google Shape;34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" name="Google Shape;47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8" name="Google Shape;48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" name="Google Shape;61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2" name="Google Shape;62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" name="Google Shape;80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1" name="Google Shape;81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8" name="Google Shape;88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" name="Google Shape;1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96645" y="71437"/>
            <a:ext cx="9144000" cy="500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"/>
          <p:cNvSpPr/>
          <p:nvPr/>
        </p:nvSpPr>
        <p:spPr>
          <a:xfrm>
            <a:off x="1425679" y="1835330"/>
            <a:ext cx="6135328" cy="15955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Helvetica Neue"/>
              <a:buNone/>
            </a:pPr>
            <a:r>
              <a:rPr b="0" i="0" lang="en-US" sz="3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6·3 지방선거</a:t>
            </a:r>
            <a:br>
              <a:rPr b="0" i="0" lang="en-US" sz="3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3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투표용지 부족 사태 </a:t>
            </a:r>
            <a:endParaRPr/>
          </a:p>
          <a:p>
            <a:pPr indent="0" lvl="0" marL="0" marR="0" rtl="0"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Helvetica Neue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민주주의가 잠시 멈춘 날…</a:t>
            </a:r>
            <a:endParaRPr b="0" i="0" sz="3500" u="none" cap="none" strike="noStrike">
              <a:solidFill>
                <a:srgbClr val="C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2794992" y="3728491"/>
            <a:ext cx="355401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-154368" y="2830708"/>
            <a:ext cx="9298367" cy="54864"/>
          </a:xfrm>
          <a:prstGeom prst="rect">
            <a:avLst/>
          </a:prstGeom>
          <a:solidFill>
            <a:srgbClr val="222A35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" name="Google Shape;2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841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2"/>
          <p:cNvSpPr/>
          <p:nvPr/>
        </p:nvSpPr>
        <p:spPr>
          <a:xfrm>
            <a:off x="571500" y="713231"/>
            <a:ext cx="85725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00"/>
              </a:buClr>
              <a:buSzPts val="2600"/>
              <a:buFont typeface="Montserrat Light"/>
              <a:buNone/>
            </a:pPr>
            <a:r>
              <a:rPr b="1" lang="en-US" sz="2600">
                <a:solidFill>
                  <a:srgbClr val="FF8C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01. “2026년 6월 3일, 투표용지가 없어 민주주의가 멈췄다”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2"/>
          <p:cNvSpPr/>
          <p:nvPr/>
        </p:nvSpPr>
        <p:spPr>
          <a:xfrm>
            <a:off x="571500" y="1875876"/>
            <a:ext cx="357187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00"/>
              </a:buClr>
              <a:buSzPts val="2000"/>
              <a:buFont typeface="Montserrat"/>
              <a:buNone/>
            </a:pPr>
            <a:r>
              <a:rPr b="1" lang="en-US" sz="2000">
                <a:solidFill>
                  <a:srgbClr val="FF8C00"/>
                </a:solidFill>
                <a:latin typeface="Montserrat"/>
                <a:ea typeface="Montserrat"/>
                <a:cs typeface="Montserrat"/>
                <a:sym typeface="Montserrat"/>
              </a:rPr>
              <a:t>현장상황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571500" y="2250923"/>
            <a:ext cx="3571875" cy="5978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수도권 주요 투표소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에서</a:t>
            </a: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투표용지 부족으로 인한 투표 중단 사태 발생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571500" y="3443546"/>
            <a:ext cx="357187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00"/>
              </a:buClr>
              <a:buSzPts val="2000"/>
              <a:buFont typeface="Montserrat"/>
              <a:buNone/>
            </a:pPr>
            <a:r>
              <a:rPr b="1" lang="en-US" sz="2000">
                <a:solidFill>
                  <a:srgbClr val="FF8C00"/>
                </a:solidFill>
                <a:latin typeface="Montserrat"/>
                <a:ea typeface="Montserrat"/>
                <a:cs typeface="Montserrat"/>
                <a:sym typeface="Montserrat"/>
              </a:rPr>
              <a:t>직접적 결과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571500" y="3818592"/>
            <a:ext cx="3571875" cy="282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유권자들의 </a:t>
            </a: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투표권 행사 기회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박탈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5007769" y="1875876"/>
            <a:ext cx="357187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00"/>
              </a:buClr>
              <a:buSzPts val="2000"/>
              <a:buFont typeface="Montserrat"/>
              <a:buNone/>
            </a:pPr>
            <a:r>
              <a:rPr b="1" lang="en-US" sz="2000">
                <a:solidFill>
                  <a:srgbClr val="FF8C00"/>
                </a:solidFill>
                <a:latin typeface="Montserrat"/>
                <a:ea typeface="Montserrat"/>
                <a:cs typeface="Montserrat"/>
                <a:sym typeface="Montserrat"/>
              </a:rPr>
              <a:t>핵심원인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5007768" y="2250923"/>
            <a:ext cx="4130391" cy="5978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선관위의 내부 지침 변경:</a:t>
            </a:r>
            <a:b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투표용지 인쇄율 </a:t>
            </a: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60%에서 50%로 하향 </a:t>
            </a: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조정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5007769" y="3443546"/>
            <a:ext cx="357187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00"/>
              </a:buClr>
              <a:buSzPts val="2000"/>
              <a:buFont typeface="Montserrat"/>
              <a:buNone/>
            </a:pPr>
            <a:r>
              <a:rPr b="1" lang="en-US" sz="2000">
                <a:solidFill>
                  <a:srgbClr val="FF8C00"/>
                </a:solidFill>
                <a:latin typeface="Montserrat"/>
                <a:ea typeface="Montserrat"/>
                <a:cs typeface="Montserrat"/>
                <a:sym typeface="Montserrat"/>
              </a:rPr>
              <a:t>행정적 오류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5007769" y="3818592"/>
            <a:ext cx="3910089" cy="282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현장의 데이터를 고려하지않은 정책 결정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6" name="Google Shape;3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57317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3"/>
          <p:cNvSpPr/>
          <p:nvPr/>
        </p:nvSpPr>
        <p:spPr>
          <a:xfrm>
            <a:off x="571500" y="713231"/>
            <a:ext cx="85725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00"/>
              </a:buClr>
              <a:buSzPts val="2600"/>
              <a:buFont typeface="Montserrat Light"/>
              <a:buNone/>
            </a:pPr>
            <a:r>
              <a:rPr b="1" lang="en-US" sz="2600">
                <a:solidFill>
                  <a:srgbClr val="FF8C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02. 데이터가 말하는 오류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571500" y="1661564"/>
            <a:ext cx="357187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00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8C00"/>
                </a:solidFill>
                <a:latin typeface="Calibri"/>
                <a:ea typeface="Calibri"/>
                <a:cs typeface="Calibri"/>
                <a:sym typeface="Calibri"/>
              </a:rPr>
              <a:t>선관위의 주장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571500" y="2088403"/>
            <a:ext cx="3571875" cy="672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"사전투표율이 증가했으므로</a:t>
            </a:r>
            <a:b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6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본투표 수요는 감소</a:t>
            </a: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할 것이다."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571500" y="3263601"/>
            <a:ext cx="3571875" cy="672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"따라서 인쇄율을 60%에서</a:t>
            </a:r>
            <a:b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6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50%로 낮춰도 충분</a:t>
            </a: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하다."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5000625" y="1661564"/>
            <a:ext cx="357187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00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8C00"/>
                </a:solidFill>
                <a:latin typeface="Calibri"/>
                <a:ea typeface="Calibri"/>
                <a:cs typeface="Calibri"/>
                <a:sym typeface="Calibri"/>
              </a:rPr>
              <a:t>실제 데이터의 진실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4938945" y="2088403"/>
            <a:ext cx="4792423" cy="317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사전투표율 </a:t>
            </a:r>
            <a:r>
              <a:rPr b="1" lang="en-US" sz="16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23.5%로 역대 최고</a:t>
            </a: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기록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4923077" y="2797326"/>
            <a:ext cx="4792423" cy="672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사전투표 증가가 본투표 감소로</a:t>
            </a:r>
            <a:b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이어지지 않고 </a:t>
            </a:r>
            <a:r>
              <a:rPr b="1" lang="en-US" sz="16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전체투표율 상승</a:t>
            </a: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견인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4938944" y="3949447"/>
            <a:ext cx="4224157" cy="672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결과적으로 본투표 용지는</a:t>
            </a:r>
            <a:b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예측보다 </a:t>
            </a:r>
            <a:r>
              <a:rPr b="1" lang="en-US" sz="16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훨씬 많이 필요</a:t>
            </a: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했음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0" name="Google Shape;5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49161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4"/>
          <p:cNvSpPr/>
          <p:nvPr/>
        </p:nvSpPr>
        <p:spPr>
          <a:xfrm>
            <a:off x="571500" y="713231"/>
            <a:ext cx="85725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00"/>
              </a:buClr>
              <a:buSzPts val="2600"/>
              <a:buFont typeface="Montserrat Light"/>
              <a:buNone/>
            </a:pPr>
            <a:r>
              <a:rPr b="1" lang="en-US" sz="2600">
                <a:solidFill>
                  <a:srgbClr val="FF8C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03. DID 분석 결과: 50%의 대가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2" name="Google Shape;5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75851"/>
            <a:ext cx="428625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4"/>
          <p:cNvSpPr/>
          <p:nvPr/>
        </p:nvSpPr>
        <p:spPr>
          <a:xfrm>
            <a:off x="5579269" y="1282559"/>
            <a:ext cx="32146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00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8C00"/>
                </a:solidFill>
                <a:latin typeface="Calibri"/>
                <a:ea typeface="Calibri"/>
                <a:cs typeface="Calibri"/>
                <a:sym typeface="Calibri"/>
              </a:rPr>
              <a:t>정책 변경의 효과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5579269" y="1623673"/>
            <a:ext cx="3214688" cy="603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인쇄 기준 하향 후 부족 발생률이</a:t>
            </a:r>
            <a:b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+31.0%p악화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5579269" y="2353731"/>
            <a:ext cx="32146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00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8C00"/>
                </a:solidFill>
                <a:latin typeface="Calibri"/>
                <a:ea typeface="Calibri"/>
                <a:cs typeface="Calibri"/>
                <a:sym typeface="Calibri"/>
              </a:rPr>
              <a:t>지역적 편차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5579269" y="2694845"/>
            <a:ext cx="3214688" cy="603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인구 밀도가 높은 </a:t>
            </a:r>
            <a:r>
              <a:rPr b="1"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서울 및 경기 지역</a:t>
            </a: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부족 현상이  집중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5579269" y="3424903"/>
            <a:ext cx="32146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00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8C00"/>
                </a:solidFill>
                <a:latin typeface="Calibri"/>
                <a:ea typeface="Calibri"/>
                <a:cs typeface="Calibri"/>
                <a:sym typeface="Calibri"/>
              </a:rPr>
              <a:t>시뮬레이션 결과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5579269" y="3766017"/>
            <a:ext cx="3214688" cy="9130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기존 </a:t>
            </a:r>
            <a:r>
              <a:rPr b="1"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60% 기준 유지 시</a:t>
            </a: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b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대부분의 투표소에서 정상투표 가능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4" name="Google Shape;6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86808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5"/>
          <p:cNvSpPr/>
          <p:nvPr/>
        </p:nvSpPr>
        <p:spPr>
          <a:xfrm>
            <a:off x="571500" y="713231"/>
            <a:ext cx="85725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00"/>
              </a:buClr>
              <a:buSzPts val="2600"/>
              <a:buFont typeface="Montserrat Light"/>
              <a:buNone/>
            </a:pPr>
            <a:r>
              <a:rPr b="1" lang="en-US" sz="2600">
                <a:solidFill>
                  <a:srgbClr val="FF8C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04. 정책 제안: 다시는 멈추지 않도록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571500" y="1604414"/>
            <a:ext cx="3857625" cy="2786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00"/>
              </a:buClr>
              <a:buSzPts val="1600"/>
              <a:buFont typeface="Montserrat"/>
              <a:buNone/>
            </a:pPr>
            <a:r>
              <a:rPr b="1" lang="en-US" sz="1600">
                <a:solidFill>
                  <a:srgbClr val="FF8C00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571500" y="2075901"/>
            <a:ext cx="385762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00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8C00"/>
                </a:solidFill>
                <a:latin typeface="Calibri"/>
                <a:ea typeface="Calibri"/>
                <a:cs typeface="Calibri"/>
                <a:sym typeface="Calibri"/>
              </a:rPr>
              <a:t>인쇄율 상향조정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571500" y="2522386"/>
            <a:ext cx="3857625" cy="2883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Lato"/>
              <a:buNone/>
            </a:pPr>
            <a:r>
              <a:rPr lang="en-US" sz="16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인쇄 하한선을 </a:t>
            </a:r>
            <a:r>
              <a:rPr b="1" lang="en-U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65% 이상</a:t>
            </a:r>
            <a:r>
              <a:rPr lang="en-U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으로 </a:t>
            </a:r>
            <a:r>
              <a:rPr lang="en-US" sz="16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즉시 재설정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4714875" y="1604414"/>
            <a:ext cx="3857625" cy="2786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00"/>
              </a:buClr>
              <a:buSzPts val="1600"/>
              <a:buFont typeface="Montserrat"/>
              <a:buNone/>
            </a:pPr>
            <a:r>
              <a:rPr b="1" lang="en-US" sz="1600">
                <a:solidFill>
                  <a:srgbClr val="FF8C00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4714875" y="2075901"/>
            <a:ext cx="385762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00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8C00"/>
                </a:solidFill>
                <a:latin typeface="Calibri"/>
                <a:ea typeface="Calibri"/>
                <a:cs typeface="Calibri"/>
                <a:sym typeface="Calibri"/>
              </a:rPr>
              <a:t>지역별 차등기준 적용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4714875" y="2522386"/>
            <a:ext cx="3857625" cy="2883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</a:pPr>
            <a:r>
              <a:rPr b="1" lang="en-U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인구 밀집 지역</a:t>
            </a:r>
            <a:r>
              <a:rPr lang="en-U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에 </a:t>
            </a:r>
            <a:r>
              <a:rPr lang="en-US" sz="16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대해 별도의 기준 의무화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571500" y="3161350"/>
            <a:ext cx="3857625" cy="2786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00"/>
              </a:buClr>
              <a:buSzPts val="1600"/>
              <a:buFont typeface="Montserrat"/>
              <a:buNone/>
            </a:pPr>
            <a:r>
              <a:rPr b="1" lang="en-US" sz="1600">
                <a:solidFill>
                  <a:srgbClr val="FF8C00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571500" y="3632838"/>
            <a:ext cx="385762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00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8C00"/>
                </a:solidFill>
                <a:latin typeface="Calibri"/>
                <a:ea typeface="Calibri"/>
                <a:cs typeface="Calibri"/>
                <a:sym typeface="Calibri"/>
              </a:rPr>
              <a:t>실시간 수요 연동 모델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571500" y="4079322"/>
            <a:ext cx="3857625" cy="2883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</a:pPr>
            <a:r>
              <a:rPr b="1" lang="en-U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용지 수량을 자동 예측</a:t>
            </a:r>
            <a:r>
              <a:rPr lang="en-U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하는 </a:t>
            </a:r>
            <a:r>
              <a:rPr lang="en-US" sz="16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시스템 도입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4714875" y="3161350"/>
            <a:ext cx="3857625" cy="2786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00"/>
              </a:buClr>
              <a:buSzPts val="1600"/>
              <a:buFont typeface="Montserrat"/>
              <a:buNone/>
            </a:pPr>
            <a:r>
              <a:rPr b="1" lang="en-US" sz="1600">
                <a:solidFill>
                  <a:srgbClr val="FF8C00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4714875" y="3632838"/>
            <a:ext cx="385762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00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8C00"/>
                </a:solidFill>
                <a:latin typeface="Calibri"/>
                <a:ea typeface="Calibri"/>
                <a:cs typeface="Calibri"/>
                <a:sym typeface="Calibri"/>
              </a:rPr>
              <a:t>긴급공급 시스템 구축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4714875" y="4079322"/>
            <a:ext cx="3857625" cy="603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Lato"/>
              <a:buNone/>
            </a:pPr>
            <a:r>
              <a:rPr lang="en-US" sz="16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투표용지 부족 시 </a:t>
            </a:r>
            <a:r>
              <a:rPr b="1" lang="en-U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즉각적인 추가 공급 </a:t>
            </a:r>
            <a:r>
              <a:rPr lang="en-US" sz="16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물류 체계 마련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"/>
          <p:cNvSpPr/>
          <p:nvPr/>
        </p:nvSpPr>
        <p:spPr>
          <a:xfrm>
            <a:off x="571500" y="713231"/>
            <a:ext cx="85725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463345" y="769111"/>
            <a:ext cx="3857625" cy="18642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추가필요한 사항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</a:t>
            </a:r>
            <a:endParaRPr/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cite list </a:t>
            </a:r>
            <a:endParaRPr/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name of data</a:t>
            </a:r>
            <a:endParaRPr/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진행중 우려되는 사항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DID가능여부 혹은 다른 방법론 추천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0" name="Google Shape;9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7"/>
          <p:cNvSpPr/>
          <p:nvPr/>
        </p:nvSpPr>
        <p:spPr>
          <a:xfrm>
            <a:off x="1576090" y="1658327"/>
            <a:ext cx="5991820" cy="960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50"/>
              <a:buFont typeface="Montserrat Light"/>
              <a:buNone/>
            </a:pPr>
            <a:r>
              <a:rPr lang="en-US" sz="3050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정치적 판단이 아닌 </a:t>
            </a:r>
            <a:r>
              <a:rPr b="1" lang="en-US" sz="2850">
                <a:solidFill>
                  <a:srgbClr val="FF8C00"/>
                </a:solidFill>
                <a:latin typeface="Montserrat"/>
                <a:ea typeface="Montserrat"/>
                <a:cs typeface="Montserrat"/>
                <a:sym typeface="Montserrat"/>
              </a:rPr>
              <a:t>데이터</a:t>
            </a:r>
            <a:r>
              <a:rPr lang="en-US" sz="3050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가</a:t>
            </a:r>
            <a:br>
              <a:rPr lang="en-US" sz="3050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</a:br>
            <a:r>
              <a:rPr lang="en-US" sz="3050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민주주의의 기준이 되어야 합니다.</a:t>
            </a:r>
            <a:endParaRPr sz="3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1000125" y="3189936"/>
            <a:ext cx="214312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8C00"/>
              </a:buClr>
              <a:buSzPts val="2000"/>
              <a:buFont typeface="Montserrat"/>
              <a:buNone/>
            </a:pPr>
            <a:r>
              <a:rPr b="1" lang="en-US" sz="2000">
                <a:solidFill>
                  <a:srgbClr val="FF8C00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1000125" y="3527478"/>
            <a:ext cx="2143125" cy="5280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</a:pPr>
            <a:r>
              <a:rPr lang="en-US" sz="14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데이터 기반의</a:t>
            </a:r>
            <a:br>
              <a:rPr lang="en-US" sz="14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-US" sz="14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객관적 행정 시스템 구축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3500438" y="3189936"/>
            <a:ext cx="214312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8C00"/>
              </a:buClr>
              <a:buSzPts val="2000"/>
              <a:buFont typeface="Montserrat"/>
              <a:buNone/>
            </a:pPr>
            <a:r>
              <a:rPr b="1" lang="en-US" sz="2000">
                <a:solidFill>
                  <a:srgbClr val="FF8C00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3500438" y="3527478"/>
            <a:ext cx="2143125" cy="5280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</a:pPr>
            <a:r>
              <a:rPr lang="en-US" sz="14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최적의 인쇄 기준 확립으로</a:t>
            </a:r>
            <a:br>
              <a:rPr lang="en-US" sz="14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-US" sz="14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선거 관리 안정성 확보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6000750" y="3189936"/>
            <a:ext cx="214312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8C00"/>
              </a:buClr>
              <a:buSzPts val="2000"/>
              <a:buFont typeface="Montserrat"/>
              <a:buNone/>
            </a:pPr>
            <a:r>
              <a:rPr b="1" lang="en-US" sz="2000">
                <a:solidFill>
                  <a:srgbClr val="FF8C00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6000750" y="3527478"/>
            <a:ext cx="2143125" cy="5280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</a:pPr>
            <a:r>
              <a:rPr lang="en-US" sz="14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행정 편의보다 우선하는</a:t>
            </a:r>
            <a:br>
              <a:rPr lang="en-US" sz="14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-US" sz="14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유권자의 권리 보호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2026-06-22T12:43:54Z</dcterms:created>
  <dc:creator>PptxGenJS</dc:creator>
</cp:coreProperties>
</file>